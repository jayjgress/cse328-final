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Proxima Nova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ProximaNova-bold.fntdata"/><Relationship Id="rId23" Type="http://schemas.openxmlformats.org/officeDocument/2006/relationships/font" Target="fonts/ProximaNova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roximaNova-boldItalic.fntdata"/><Relationship Id="rId25" Type="http://schemas.openxmlformats.org/officeDocument/2006/relationships/font" Target="fonts/ProximaNova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e0e03c4bfd_0_3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e0e03c4bfd_0_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e0e03c4bfd_0_8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e0e03c4bfd_0_8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e0e03c4bfd_0_8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e0e03c4bfd_0_8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e0e03c4bfd_0_8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e0e03c4bfd_0_8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e0e03c4bfd_0_8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e0e03c4bfd_0_8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e0e03c4bfd_1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e0e03c4bfd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e0e03c4bfd_1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e0e03c4bfd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e0e03c4bfd_1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e0e03c4bfd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e0e03c4bfd_1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e0e03c4bfd_1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e0e03c4bfd_1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e0e03c4bfd_1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e0ecba9436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e0ecba9436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e0ecba9436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e0ecba943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e0ecba9436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e0ecba9436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e0ecba9436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e0ecba9436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e0ecba9436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e0ecba9436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e0ecba9436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e0ecba9436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e0ecba9436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e0ecba9436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56">
                <a:solidFill>
                  <a:schemeClr val="dk2"/>
                </a:solidFill>
              </a:rPr>
              <a:t>CSE328</a:t>
            </a:r>
            <a:endParaRPr b="1" sz="2856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Portal Raycaster</a:t>
            </a:r>
            <a:endParaRPr b="1"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Jay Gress - 115469091</a:t>
            </a:r>
            <a:endParaRPr sz="1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What is Raycasting?</a:t>
            </a:r>
            <a:endParaRPr b="1"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-28250" y="1017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Simulate a 3d perspective from a 2D map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One ray cast per screen column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Step through map until wall is found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Wall distance -&gt; slice height = depth illusion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7" name="Google Shape;6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49400" y="1017725"/>
            <a:ext cx="3034376" cy="2999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DDA Algorithm</a:t>
            </a:r>
            <a:endParaRPr b="1"/>
          </a:p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311700" y="1017725"/>
            <a:ext cx="4741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Digital Differential Analyzer</a:t>
            </a:r>
            <a:endParaRPr b="1"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/>
              <a:t>Steps a ray through a tile grid one cell boundary at a time (either in the X or Y direction, whichever is closer)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/>
              <a:t>This stepping continues until the boundary of a non-zero tile is hit.</a:t>
            </a:r>
            <a:endParaRPr sz="1500"/>
          </a:p>
        </p:txBody>
      </p:sp>
      <p:pic>
        <p:nvPicPr>
          <p:cNvPr id="74" name="Google Shape;7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7450" y="1027300"/>
            <a:ext cx="3026326" cy="3008367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/>
          <p:cNvSpPr txBox="1"/>
          <p:nvPr/>
        </p:nvSpPr>
        <p:spPr>
          <a:xfrm>
            <a:off x="1075800" y="557375"/>
            <a:ext cx="3626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9850" y="1168050"/>
            <a:ext cx="3114950" cy="230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6450" y="1232613"/>
            <a:ext cx="2905125" cy="2171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2" name="Google Shape;82;p16"/>
          <p:cNvCxnSpPr/>
          <p:nvPr/>
        </p:nvCxnSpPr>
        <p:spPr>
          <a:xfrm>
            <a:off x="3713675" y="2357900"/>
            <a:ext cx="1089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3" name="Google Shape;8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Raycasting in my implementation</a:t>
            </a:r>
            <a:endParaRPr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Wall Rendering</a:t>
            </a:r>
            <a:endParaRPr b="1"/>
          </a:p>
        </p:txBody>
      </p:sp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311700" y="1152475"/>
            <a:ext cx="5196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Slice height</a:t>
            </a:r>
            <a:r>
              <a:rPr lang="en"/>
              <a:t>: SCREEN_HEIGHT / wall distance.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Slice color</a:t>
            </a:r>
            <a:r>
              <a:rPr lang="en"/>
              <a:t>: Taken from tile ID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Slice brightness</a:t>
            </a:r>
            <a:r>
              <a:rPr lang="en"/>
              <a:t>: Fades based on distance.</a:t>
            </a:r>
            <a:br>
              <a:rPr lang="en"/>
            </a:br>
            <a:r>
              <a:rPr lang="en"/>
              <a:t>Additionally, Y-facing walls are slightly darkened.</a:t>
            </a:r>
            <a:endParaRPr/>
          </a:p>
        </p:txBody>
      </p:sp>
      <p:pic>
        <p:nvPicPr>
          <p:cNvPr id="90" name="Google Shape;9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69900" y="1017725"/>
            <a:ext cx="3062401" cy="219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Cell/Portal Model</a:t>
            </a:r>
            <a:endParaRPr b="1"/>
          </a:p>
        </p:txBody>
      </p:sp>
      <p:sp>
        <p:nvSpPr>
          <p:cNvPr id="96" name="Google Shape;96;p18"/>
          <p:cNvSpPr txBox="1"/>
          <p:nvPr>
            <p:ph idx="1" type="body"/>
          </p:nvPr>
        </p:nvSpPr>
        <p:spPr>
          <a:xfrm>
            <a:off x="311700" y="1152475"/>
            <a:ext cx="5540400" cy="372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Cells</a:t>
            </a:r>
            <a:r>
              <a:rPr lang="en"/>
              <a:t>: Discrete rooms, with 11x8 tile grid</a:t>
            </a:r>
            <a:br>
              <a:rPr lang="en"/>
            </a:br>
            <a:r>
              <a:rPr b="1" lang="en"/>
              <a:t>Portals</a:t>
            </a:r>
            <a:r>
              <a:rPr lang="en"/>
              <a:t>: Line segments placed within a cell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Portals store</a:t>
            </a:r>
            <a:r>
              <a:rPr lang="en"/>
              <a:t>:</a:t>
            </a:r>
            <a:br>
              <a:rPr lang="en"/>
            </a:br>
            <a:r>
              <a:rPr lang="en"/>
              <a:t>- Center position &amp; facing angle</a:t>
            </a:r>
            <a:br>
              <a:rPr lang="en"/>
            </a:br>
            <a:r>
              <a:rPr lang="en"/>
              <a:t>- Destination cell pointer</a:t>
            </a:r>
            <a:br>
              <a:rPr lang="en"/>
            </a:br>
            <a:r>
              <a:rPr lang="en"/>
              <a:t>- Partner portal pointer &amp; midpoint</a:t>
            </a:r>
            <a:br>
              <a:rPr lang="en"/>
            </a:br>
            <a:r>
              <a:rPr lang="en"/>
              <a:t>- Rotation angle</a:t>
            </a:r>
            <a:br>
              <a:rPr lang="en"/>
            </a:br>
            <a:br>
              <a:rPr lang="en"/>
            </a:br>
            <a:r>
              <a:rPr i="1" lang="en"/>
              <a:t>Based on the Cell and Portal Graph (CPG) model. [1]</a:t>
            </a:r>
            <a:endParaRPr i="1"/>
          </a:p>
        </p:txBody>
      </p:sp>
      <p:sp>
        <p:nvSpPr>
          <p:cNvPr id="97" name="Google Shape;97;p18"/>
          <p:cNvSpPr/>
          <p:nvPr/>
        </p:nvSpPr>
        <p:spPr>
          <a:xfrm>
            <a:off x="5546150" y="618950"/>
            <a:ext cx="1377300" cy="13392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Cell A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8" name="Google Shape;98;p18"/>
          <p:cNvSpPr/>
          <p:nvPr/>
        </p:nvSpPr>
        <p:spPr>
          <a:xfrm>
            <a:off x="7394700" y="3028650"/>
            <a:ext cx="1377300" cy="13392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Cell B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9" name="Google Shape;99;p18"/>
          <p:cNvSpPr/>
          <p:nvPr/>
        </p:nvSpPr>
        <p:spPr>
          <a:xfrm>
            <a:off x="6834200" y="976025"/>
            <a:ext cx="178500" cy="751200"/>
          </a:xfrm>
          <a:prstGeom prst="rect">
            <a:avLst/>
          </a:prstGeom>
          <a:solidFill>
            <a:schemeClr val="dk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0" name="Google Shape;100;p18"/>
          <p:cNvSpPr/>
          <p:nvPr/>
        </p:nvSpPr>
        <p:spPr>
          <a:xfrm>
            <a:off x="7318150" y="3322650"/>
            <a:ext cx="178500" cy="751200"/>
          </a:xfrm>
          <a:prstGeom prst="rect">
            <a:avLst/>
          </a:prstGeom>
          <a:solidFill>
            <a:schemeClr val="dk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101" name="Google Shape;101;p18"/>
          <p:cNvCxnSpPr>
            <a:stCxn id="99" idx="3"/>
            <a:endCxn id="100" idx="1"/>
          </p:cNvCxnSpPr>
          <p:nvPr/>
        </p:nvCxnSpPr>
        <p:spPr>
          <a:xfrm>
            <a:off x="7012700" y="1351625"/>
            <a:ext cx="305400" cy="2346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Portal Ray Traversal</a:t>
            </a:r>
            <a:endParaRPr b="1"/>
          </a:p>
        </p:txBody>
      </p:sp>
      <p:sp>
        <p:nvSpPr>
          <p:cNvPr id="107" name="Google Shape;107;p19"/>
          <p:cNvSpPr/>
          <p:nvPr/>
        </p:nvSpPr>
        <p:spPr>
          <a:xfrm>
            <a:off x="460125" y="1473425"/>
            <a:ext cx="1683300" cy="28056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Proxima Nova"/>
                <a:ea typeface="Proxima Nova"/>
                <a:cs typeface="Proxima Nova"/>
                <a:sym typeface="Proxima Nova"/>
              </a:rPr>
              <a:t>Intersect</a:t>
            </a:r>
            <a:endParaRPr b="1" sz="16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Before each DDA step, test ray against all portals in current cell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8" name="Google Shape;108;p19"/>
          <p:cNvSpPr/>
          <p:nvPr/>
        </p:nvSpPr>
        <p:spPr>
          <a:xfrm>
            <a:off x="2640275" y="1473425"/>
            <a:ext cx="1683300" cy="28056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Proxima Nova"/>
                <a:ea typeface="Proxima Nova"/>
                <a:cs typeface="Proxima Nova"/>
                <a:sym typeface="Proxima Nova"/>
              </a:rPr>
              <a:t>Remap</a:t>
            </a:r>
            <a:endParaRPr b="1" sz="16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If hit, remap position to partner </a:t>
            </a: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portal</a:t>
            </a: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 midpoint.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9" name="Google Shape;109;p19"/>
          <p:cNvSpPr/>
          <p:nvPr/>
        </p:nvSpPr>
        <p:spPr>
          <a:xfrm>
            <a:off x="4820425" y="1473425"/>
            <a:ext cx="1683300" cy="28056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Proxima Nova"/>
                <a:ea typeface="Proxima Nova"/>
                <a:cs typeface="Proxima Nova"/>
                <a:sym typeface="Proxima Nova"/>
              </a:rPr>
              <a:t>Rotate</a:t>
            </a:r>
            <a:endParaRPr b="1" sz="16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Rotate ray direction by precomputed rotation rangle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0" name="Google Shape;110;p19"/>
          <p:cNvSpPr/>
          <p:nvPr/>
        </p:nvSpPr>
        <p:spPr>
          <a:xfrm>
            <a:off x="7000575" y="1473425"/>
            <a:ext cx="1683300" cy="28056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Proxima Nova"/>
                <a:ea typeface="Proxima Nova"/>
                <a:cs typeface="Proxima Nova"/>
                <a:sym typeface="Proxima Nova"/>
              </a:rPr>
              <a:t>Continue</a:t>
            </a:r>
            <a:endParaRPr b="1" sz="16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Resume DDA in destination cell (accumulating distance data)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111" name="Google Shape;111;p19"/>
          <p:cNvCxnSpPr>
            <a:stCxn id="107" idx="3"/>
            <a:endCxn id="108" idx="1"/>
          </p:cNvCxnSpPr>
          <p:nvPr/>
        </p:nvCxnSpPr>
        <p:spPr>
          <a:xfrm>
            <a:off x="2143425" y="2876225"/>
            <a:ext cx="496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" name="Google Shape;112;p19"/>
          <p:cNvCxnSpPr/>
          <p:nvPr/>
        </p:nvCxnSpPr>
        <p:spPr>
          <a:xfrm>
            <a:off x="4323600" y="2876225"/>
            <a:ext cx="496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" name="Google Shape;113;p19"/>
          <p:cNvCxnSpPr/>
          <p:nvPr/>
        </p:nvCxnSpPr>
        <p:spPr>
          <a:xfrm>
            <a:off x="6503725" y="2876225"/>
            <a:ext cx="496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4" name="Google Shape;114;p19"/>
          <p:cNvCxnSpPr>
            <a:stCxn id="110" idx="2"/>
            <a:endCxn id="107" idx="2"/>
          </p:cNvCxnSpPr>
          <p:nvPr/>
        </p:nvCxnSpPr>
        <p:spPr>
          <a:xfrm rot="5400000">
            <a:off x="4571625" y="1009025"/>
            <a:ext cx="600" cy="6540600"/>
          </a:xfrm>
          <a:prstGeom prst="curvedConnector3">
            <a:avLst>
              <a:gd fmla="val 72279167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Portal Rotation/Linking</a:t>
            </a:r>
            <a:endParaRPr b="1"/>
          </a:p>
        </p:txBody>
      </p:sp>
      <p:sp>
        <p:nvSpPr>
          <p:cNvPr id="120" name="Google Shape;120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Rotation angle = B.facingAngle - A.facingAngle + π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Tangent alignment check</a:t>
            </a:r>
            <a:r>
              <a:rPr lang="en"/>
              <a:t>:</a:t>
            </a:r>
            <a:br>
              <a:rPr lang="en"/>
            </a:br>
            <a:r>
              <a:rPr lang="en"/>
              <a:t>- Rotate A’s tangent by rotation angle</a:t>
            </a:r>
            <a:br>
              <a:rPr lang="en"/>
            </a:br>
            <a:r>
              <a:rPr lang="en"/>
              <a:t>- If dot product with B’s tangent &lt; 0, flip endpoints</a:t>
            </a:r>
            <a:br>
              <a:rPr lang="en"/>
            </a:br>
            <a:r>
              <a:rPr lang="en"/>
              <a:t>This prevents mirrored offset mapping.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Same-Room Portals</a:t>
            </a:r>
            <a:endParaRPr b="1"/>
          </a:p>
        </p:txBody>
      </p:sp>
      <p:sp>
        <p:nvSpPr>
          <p:cNvPr id="126" name="Google Shape;126;p21"/>
          <p:cNvSpPr txBox="1"/>
          <p:nvPr>
            <p:ph idx="1" type="body"/>
          </p:nvPr>
        </p:nvSpPr>
        <p:spPr>
          <a:xfrm>
            <a:off x="311700" y="1152475"/>
            <a:ext cx="6114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Both portals can point to the same cell.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Non-adjacent portals work identically to adjacent portals. </a:t>
            </a:r>
            <a:br>
              <a:rPr b="1" lang="en"/>
            </a:br>
            <a:r>
              <a:rPr lang="en"/>
              <a:t>- Direct cell pointer, not physical neighbor</a:t>
            </a:r>
            <a:br>
              <a:rPr lang="en"/>
            </a:br>
            <a:r>
              <a:rPr lang="en"/>
              <a:t>- Raycaster traverses whatever cell is pointed to</a:t>
            </a:r>
            <a:br>
              <a:rPr lang="en"/>
            </a:br>
            <a:br>
              <a:rPr lang="en"/>
            </a:br>
            <a:r>
              <a:rPr b="1" lang="en"/>
              <a:t>Special case: Return-teleport flicker</a:t>
            </a:r>
            <a:br>
              <a:rPr b="1" lang="en"/>
            </a:br>
            <a:r>
              <a:rPr lang="en"/>
              <a:t>After crossing, the player could immediately re-trigger the partner portal.</a:t>
            </a:r>
            <a:br>
              <a:rPr lang="en"/>
            </a:br>
            <a:r>
              <a:rPr lang="en"/>
              <a:t>Fixed by storing previous cell and suppressing crossings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Runtime Portal Editing</a:t>
            </a:r>
            <a:endParaRPr b="1"/>
          </a:p>
        </p:txBody>
      </p:sp>
      <p:sp>
        <p:nvSpPr>
          <p:cNvPr id="132" name="Google Shape;132;p22"/>
          <p:cNvSpPr txBox="1"/>
          <p:nvPr>
            <p:ph idx="1" type="body"/>
          </p:nvPr>
        </p:nvSpPr>
        <p:spPr>
          <a:xfrm>
            <a:off x="311700" y="1152475"/>
            <a:ext cx="5527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/>
              <a:t>Controls</a:t>
            </a:r>
            <a:r>
              <a:rPr lang="en"/>
              <a:t>:</a:t>
            </a:r>
            <a:br>
              <a:rPr lang="en"/>
            </a:br>
            <a:r>
              <a:rPr lang="en"/>
              <a:t>Tab - Cycle selected portal</a:t>
            </a:r>
            <a:br>
              <a:rPr lang="en"/>
            </a:br>
            <a:r>
              <a:rPr lang="en"/>
              <a:t>Arrows - Translate portal</a:t>
            </a:r>
            <a:br>
              <a:rPr lang="en"/>
            </a:br>
            <a:r>
              <a:rPr lang="en"/>
              <a:t>,/. - Rotate portal</a:t>
            </a:r>
            <a:br>
              <a:rPr lang="en"/>
            </a:br>
            <a:r>
              <a:rPr lang="en"/>
              <a:t>F - Toggle debug overlap</a:t>
            </a:r>
            <a:br>
              <a:rPr lang="en"/>
            </a:br>
            <a:br>
              <a:rPr lang="en"/>
            </a:br>
            <a:r>
              <a:rPr b="1" lang="en"/>
              <a:t>After any edit</a:t>
            </a:r>
            <a:r>
              <a:rPr lang="en"/>
              <a:t>:</a:t>
            </a:r>
            <a:br>
              <a:rPr lang="en"/>
            </a:br>
            <a:r>
              <a:rPr lang="en"/>
              <a:t>Rotation angle is recomputed for both linked portals.</a:t>
            </a:r>
            <a:br>
              <a:rPr lang="en"/>
            </a:br>
            <a:r>
              <a:rPr lang="en"/>
              <a:t>The endpoint tangent check is re-run.</a:t>
            </a:r>
            <a:br>
              <a:rPr lang="en"/>
            </a:br>
            <a:r>
              <a:rPr lang="en"/>
              <a:t>The exit anchor midpoint is updated.</a:t>
            </a:r>
            <a:endParaRPr/>
          </a:p>
        </p:txBody>
      </p:sp>
      <p:pic>
        <p:nvPicPr>
          <p:cNvPr id="133" name="Google Shape;13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7325" y="353925"/>
            <a:ext cx="3980500" cy="2700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1137" y="291300"/>
            <a:ext cx="6721726" cy="4560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6400" y="152400"/>
            <a:ext cx="7131192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3900" y="28575"/>
            <a:ext cx="7496175" cy="508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3913" y="28575"/>
            <a:ext cx="7496175" cy="508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3913" y="28575"/>
            <a:ext cx="7496175" cy="508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3913" y="28575"/>
            <a:ext cx="7496175" cy="508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3913" y="28575"/>
            <a:ext cx="7496175" cy="508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